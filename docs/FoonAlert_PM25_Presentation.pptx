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5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FoonAlert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D2FF"/>
                </a:solidFill>
                <a:latin typeface="Calibri"/>
              </a:rPr>
              <a:t>PM2.5 Air Quality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BBBBCC"/>
                </a:solidFill>
                <a:latin typeface="Calibri"/>
              </a:rPr>
              <a:t>24-Hour Ahead Forecasting for 5 Bangkok Monitoring Stations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2377440" cy="1828800"/>
          </a:xfrm>
          <a:prstGeom prst="roundRect">
            <a:avLst/>
          </a:prstGeom>
          <a:solidFill>
            <a:srgbClr val="24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5262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🤖  5 ML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0292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BBBCC"/>
                </a:solidFill>
                <a:latin typeface="Calibri"/>
              </a:rPr>
              <a:t>Linear, Ridge, RF,
XGBoost, LSTM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4389120"/>
            <a:ext cx="2377440" cy="1828800"/>
          </a:xfrm>
          <a:prstGeom prst="roundRect">
            <a:avLst/>
          </a:prstGeom>
          <a:solidFill>
            <a:srgbClr val="24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45262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📡  5 Stations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50292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BBBCC"/>
                </a:solidFill>
                <a:latin typeface="Calibri"/>
              </a:rPr>
              <a:t>Real-time hourly data
from AirBKK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389120"/>
            <a:ext cx="2377440" cy="1828800"/>
          </a:xfrm>
          <a:prstGeom prst="roundRect">
            <a:avLst/>
          </a:prstGeom>
          <a:solidFill>
            <a:srgbClr val="24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5262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⚡  Triton Serving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0292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BBBCC"/>
                </a:solidFill>
                <a:latin typeface="Calibri"/>
              </a:rPr>
              <a:t>5-10ms inference
ONNX Runtime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4389120"/>
            <a:ext cx="2377440" cy="1828800"/>
          </a:xfrm>
          <a:prstGeom prst="roundRect">
            <a:avLst/>
          </a:prstGeom>
          <a:solidFill>
            <a:srgbClr val="24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45262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🔄  Auto-Retrain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50292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BBBBCC"/>
                </a:solidFill>
                <a:latin typeface="Calibri"/>
              </a:rPr>
              <a:t>PSI drift detection
&amp;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888899"/>
                </a:solidFill>
                <a:latin typeface="Calibri"/>
              </a:rPr>
              <a:t>2110555 Software Engineering for Machine Learning Systems  |  Academic Year 2568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1E3A5F"/>
                </a:solidFill>
                <a:latin typeface="Calibri"/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23444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Problem Statement &amp;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813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Real-world ML application &amp; user interaction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92808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470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Data &amp; Experiment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3969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Data pipeline, feature engineering, MLflow tracking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551176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05456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Model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9806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5 models comparison, metrics, ONNX export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209544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63824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5643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C4 model, ML system design, infrastructure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867911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22191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MLOps &amp;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1479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CI/CD, Docker, Triton Inference Server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526279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8055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Monitoring &amp; Drift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73167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PSI, RMSE tracking, auto-retrain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184648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3892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Testing &amp; Responsible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3153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Unit tests, debugging, fairness, limitations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843016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797296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Calibri"/>
              </a:rPr>
              <a:t>Live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608990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End-to-end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alibri"/>
              </a:rPr>
              <a:t>The Challenge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Bangkok faces severe PM2.5 pollution annually (Nov–Mar)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No accessible real-time forecasting system for the public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Existing monitoring only shows current values, not predictions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Calibri"/>
              </a:rPr>
              <a:t>Our Solution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Predict PM2.5 24 hours ahead for 5 Bangkok stations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Automated ML pipeline: ingest → train → serve → monitor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Auto-retrain when model performance degrades (drift)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Calibri"/>
              </a:rPr>
              <a:t>Foundation Model — Data Splits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25603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25603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2024 – mid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~1.5 years hourly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389120"/>
            <a:ext cx="25603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438912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4526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846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Oct – Dec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3 months (hyperparameter tuning)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389120"/>
            <a:ext cx="25603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38912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526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846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Jan – Mar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3 months (final evaluation)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4389120"/>
            <a:ext cx="25603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4389120"/>
            <a:ext cx="2560320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4526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A29BFE"/>
                </a:solidFill>
                <a:latin typeface="Calibri"/>
              </a:rPr>
              <a:t>Predict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4846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Calibri"/>
              </a:rPr>
              <a:t>Last 24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Real-time inference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Monitoring Stations:  </a:t>
            </a:r>
            <a:r>
              <a:rPr sz="1400" b="1">
                <a:solidFill>
                  <a:srgbClr val="1E3A5F"/>
                </a:solidFill>
                <a:latin typeface="Calibri"/>
              </a:rPr>
              <a:t>Station 56  •  Station 57  •  Station 58  •  Station 59  •  Station 61   (Bangkok, Thailand)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Use Case &amp; User Interaction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👤  End User (Public)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Access Streamlit Dashboard (port 8501)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Login with username/password (session-based auth)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View next-day PM2.5 forecast per station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See air quality level: Good / Moderate / Unhealthy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Upload CSV or manually enter 15+ days of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12064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Calibri"/>
              </a:rPr>
              <a:t>🛠  ML Engineer / Admin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Airflow UI (port 8080) — manage DAGs, trigger training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MLflow UI (port 5001) — view experiments, compare models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FastAPI (port 8001) — REST API for system integration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Monitor model performance &amp; data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Calibri"/>
              </a:rPr>
              <a:t>Authentication &amp;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34747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73152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Streamlit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1663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Session-based login (VALID_USERS)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846320"/>
            <a:ext cx="34747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59" y="4846320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48920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51663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X-API-Key header (all endpoints except /health)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846320"/>
            <a:ext cx="34747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84632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489204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Calibri"/>
              </a:rPr>
              <a:t>Airflow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1663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Built-in auth (admin/admin)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Live Production:  </a:t>
            </a:r>
            <a:r>
              <a:rPr sz="1400" b="1">
                <a:solidFill>
                  <a:srgbClr val="1E3A5F"/>
                </a:solidFill>
                <a:latin typeface="Calibri"/>
              </a:rPr>
              <a:t>Streamlit :8501  |  FastAPI :8001  |  MLflow :5001  |  Airflow :8080  |  Triton :8010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Data Pipeline &amp; 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0116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AirBKK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Hourly PM2.5
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7373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280160"/>
            <a:ext cx="20116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28016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417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Hourly Ingest
(Airflow DAG)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Fetch, validate,
store every 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7373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280160"/>
            <a:ext cx="20116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28016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417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96K+ records
5 stations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7373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59" y="1280160"/>
            <a:ext cx="20116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59" y="1280160"/>
            <a:ext cx="2011680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799" y="1417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A29BFE"/>
                </a:solidFill>
                <a:latin typeface="Calibri"/>
              </a:rPr>
              <a:t>Preprocessing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799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ffill/bfill,
clip [0, 500]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39" y="17373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280160"/>
            <a:ext cx="201168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28016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4173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Feature Eng.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9659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19 features
shift(1)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Calibri"/>
              </a:rPr>
              <a:t>Hourly Ingestion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7490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1. Fetch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74903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Call AirBKK API, convert Buddhist year (2569→2026), retry with backoff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2519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2. 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25195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Range checks: PM2.5 ∈ [0,500], RH ∈ [0,100], WS ≥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7548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3. 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7548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INSERT with UNIQUE(station_id, timestamp) — idempotent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57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4. Monitor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257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Check null rate (&gt;50%), outliers (&gt;10%), sensor drift (1h vs 7d baseline)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760720"/>
            <a:ext cx="1069848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⚠  Data Quality:  </a:t>
            </a:r>
            <a:r>
              <a:rPr sz="1300">
                <a:solidFill>
                  <a:srgbClr val="1F2937"/>
                </a:solidFill>
                <a:latin typeface="Calibri"/>
              </a:rPr>
              <a:t>Parameters collected: PM2.5, PM10, Temperature, Humidity, Wind Speed, Wind Direction  |  Stored in PostgreSQL with CHECK constraints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Feature Engineering — 19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517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Lag Features (6)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pm25_lag_1h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21991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pm25_lag_2h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9463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pm25_lag_3h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1693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pm25_lag_6h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6440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pm25_lag_12h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7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pm25_lag_24h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280160"/>
            <a:ext cx="26517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417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Rolling Statistics (6)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8745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pm25_rolling_mean_6h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221991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pm25_rolling_mean_12h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569463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pm25_rolling_mean_24h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91693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pm25_rolling_std_6h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26440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pm25_rolling_std_12h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61187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pm25_rolling_std_24h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280160"/>
            <a:ext cx="26517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417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Calibri"/>
              </a:rPr>
              <a:t>Change Features (2)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8745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pm25_diff_1h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221991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pm25_diff_24h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280160"/>
            <a:ext cx="265176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1280160"/>
            <a:ext cx="2651760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417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29BFE"/>
                </a:solidFill>
                <a:latin typeface="Calibri"/>
              </a:rPr>
              <a:t>Time Features (5)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87451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hour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221991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day_of_week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569463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91693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day_of_year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26440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is_weekend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754880"/>
            <a:ext cx="11247120" cy="16459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892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Calibri"/>
              </a:rPr>
              <a:t>⚠  Critical Design: shift(1) on ALL features to prevent data leakage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All lag and rolling features use shift(1) before computation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Ensures no information from the prediction hour is used as input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Code: df['pm25_rolling_mean_6h'] = df['pm25'].shift(1).rolling(6).mean()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Experiment Tracking &amp;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📊  MLflow Tracking Server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Backend: PostgreSQL (schema: mlflow)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Artifacts: /mlflow/artifacts (Docker volume)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Logs per training run: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Parameters — all hyperparameters per model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Metrics — MAE, RMSE, R² on test set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Artifacts — ONNX model files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Tags — station_id, date range, best_model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120640" cy="2743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Calibri"/>
              </a:rPr>
              <a:t>🐳  Docker Compose (8 Services)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PostgreSQL 15 — shared database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MLflow — experiment tracking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Airflow Webserver — DAG UI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Airflow Scheduler — DAG execution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Triton Server — ONNX inference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FastAPI — prediction API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Streamlit — web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Key Environment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754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754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INFERENCE_BACKEND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120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triton / onnxruntime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1206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Inference engine selection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OMP_NUM_THREADS=1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4864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MKL_NUM_THREADS=1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486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Prevent XGBoost ↔ PyTorch thread conflict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PYTORCH_DEVICE=cpu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852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852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Force CPU (Apple Silicon MPS crash fix)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GRID_N_JOBS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-1 (default)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6217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GridSearchCV parallelism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Model Evaluation — 5 Competing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1031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103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920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Linear
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1554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260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No tuning
(closed-form)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40"/>
            <a:ext cx="1554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118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Simple,
interpretable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39" y="1280160"/>
            <a:ext cx="21031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39" y="128016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417320"/>
            <a:ext cx="1920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Ridge
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20574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Regularized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59" y="2606040"/>
            <a:ext cx="1554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79" y="26974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79" y="29260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α ∈ [0.01..100]
GridSearchCV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59" y="3520440"/>
            <a:ext cx="1554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79" y="36118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79" y="38404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Handles correlated
lag features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59" y="1280160"/>
            <a:ext cx="21031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59" y="1280160"/>
            <a:ext cx="2103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199" y="1417320"/>
            <a:ext cx="1920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Random
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20574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Ensemble
(Bagging)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79" y="2606040"/>
            <a:ext cx="1554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199" y="26974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199" y="29260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n_est, depth,
GridSearchCV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79" y="3520440"/>
            <a:ext cx="1554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199" y="36118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199" y="38404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Non-linear,
feature importance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69479" y="1280160"/>
            <a:ext cx="21031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79" y="1280160"/>
            <a:ext cx="21031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19" y="1417320"/>
            <a:ext cx="1920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XGBoost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19" y="20574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Ensemble
(Boosting)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799" y="2606040"/>
            <a:ext cx="1554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19" y="26974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Tuning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19" y="29260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lr, depth, subsample
GridSearchCV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43799" y="3520440"/>
            <a:ext cx="1554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19" y="36118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Why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38404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SOTA tabular,
good for time-series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0" y="1280160"/>
            <a:ext cx="21031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601200" y="1280160"/>
            <a:ext cx="2103120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0" y="1417320"/>
            <a:ext cx="1920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A29BFE"/>
                </a:solidFill>
                <a:latin typeface="Calibri"/>
              </a:rPr>
              <a:t>LSTM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205740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Deep Learning
(RNN)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2606040"/>
            <a:ext cx="1554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26974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Tuning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29260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units, dropout, lr
RandomizedSearch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3520440"/>
            <a:ext cx="1554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0" y="36118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Why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38404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Temporal
dependencies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212080"/>
            <a:ext cx="1124712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Training Strategy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CV: TimeSeriesSplit(n_splits=3) — preserves temporal order, prevents leakage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Scoring: neg_mean_absolute_error (MAE in µg/m³ — directly interpretable)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All 5 models train every cycle → best MAE on test set gets deployed (adaptive to data patterns)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Evaluation Metrics &amp; Why ONNX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📏  Evaluation Metrics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MAE (Primary) — Mean Absolute Error in µg/m³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Average prediction error; directly interpretable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RMSE — Root Mean Squared Error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Penalizes large errors more heavily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R² — Coefficient of Determination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Proportion of variance explained by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12064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Calibri"/>
              </a:rPr>
              <a:t>📦  Why ONNX-Only Deployment?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Framework-agnostic — sklearn, XGBoost, PyTorch all export to ONNX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Triton native support — no extra conversion needed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No training deps at inference — lighter containers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Fast inference — optimized ONNX Runtime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Portable &amp; versioned — file-based, easy rollback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ONNX Export Paths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5720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Export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572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Function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Linear, Ridge, 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9377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skl2onnx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9377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convert_sklearn()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3035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onnxmltools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3035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convert_xgboost()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LSTM (PyTorch)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66928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</a:rPr>
              <a:t>torch.onnx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669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torch.onnx.export()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852160"/>
            <a:ext cx="10698480" cy="6400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897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Deployment Pointer:  active_model.json → </a:t>
            </a:r>
            <a:r>
              <a:rPr sz="1200">
                <a:solidFill>
                  <a:srgbClr val="64748B"/>
                </a:solidFill>
                <a:latin typeface="Calibri"/>
              </a:rPr>
              <a:t>{"onnx_file": "xgboost_2024-01-01_2025-12-31.onnx", "model_key": "xgboost", "is_lstm": false}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System Architecture — C4 Context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2286000"/>
            <a:ext cx="4297680" cy="20116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237744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PM2.5 Prediction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834640"/>
            <a:ext cx="3931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Predicts PM2.5 24h ahead
5 Bangkok stations
Auto-retrain on 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14400"/>
            <a:ext cx="22860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058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👤 End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Views forecasts
via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22860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👤 ML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2103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Manages pipeline
&amp; experiments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914400"/>
            <a:ext cx="22860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0058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AirBKK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3716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Hourly PM2.5
data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743200"/>
            <a:ext cx="22860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8346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004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Source code
CI/CD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572000"/>
            <a:ext cx="228600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AWS EC2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0292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Production
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→ HTTPS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2976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→ HTTPS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3716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← HTTP 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200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← SSH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See full C4 diagrams (Level 1-4) in docs/C4_ARCHITECTURE.md with Mermaid source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System Architecture — Container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PM2.5 Prediction System (Docker Compose)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1945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194560" cy="4572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4B4B"/>
                </a:solidFill>
                <a:latin typeface="Calibri"/>
              </a:rPr>
              <a:t>Streamlit
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:8501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Python,
Streamlit 1.41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645920"/>
            <a:ext cx="21945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645920"/>
            <a:ext cx="219456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737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9688"/>
                </a:solidFill>
                <a:latin typeface="Calibri"/>
              </a:rPr>
              <a:t>FastAPI
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40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:8001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468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Python,
FastAPI 0.115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1645920"/>
            <a:ext cx="21945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1645920"/>
            <a:ext cx="2194560" cy="457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737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6B900"/>
                </a:solidFill>
                <a:latin typeface="Calibri"/>
              </a:rPr>
              <a:t>Triton
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240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:8010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468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NVIDIA Triton,
ONNX Runtime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83280"/>
            <a:ext cx="21945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17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383280"/>
            <a:ext cx="2194560" cy="45720"/>
          </a:xfrm>
          <a:prstGeom prst="rect">
            <a:avLst/>
          </a:prstGeom>
          <a:solidFill>
            <a:srgbClr val="017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474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17CEE"/>
                </a:solidFill>
                <a:latin typeface="Calibri"/>
              </a:rPr>
              <a:t>Airflow
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77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:8080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Airflow 2.10
DAG executor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21945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19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383280"/>
            <a:ext cx="2194560" cy="45720"/>
          </a:xfrm>
          <a:prstGeom prst="rect">
            <a:avLst/>
          </a:prstGeom>
          <a:solidFill>
            <a:srgbClr val="019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474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194E2"/>
                </a:solidFill>
                <a:latin typeface="Calibri"/>
              </a:rPr>
              <a:t>MLflow
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977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:5001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MLflow 2.16
Experiment logs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3383280"/>
            <a:ext cx="21945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0" y="3383280"/>
            <a:ext cx="2194560" cy="45720"/>
          </a:xfrm>
          <a:prstGeom prst="rect">
            <a:avLst/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3474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336791"/>
                </a:solidFill>
                <a:latin typeface="Calibri"/>
              </a:rPr>
              <a:t>PostgreSQL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3977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:5432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PostgreSQL 15
96K+ rows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645920"/>
            <a:ext cx="21945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1645920"/>
            <a:ext cx="2194560" cy="4572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1737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A29BFE"/>
                </a:solidFill>
                <a:latin typeface="Calibri"/>
              </a:rPr>
              <a:t>Model
Repository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2402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File I/O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2468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ONNX files,
active_model.json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3383280"/>
            <a:ext cx="21945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383280"/>
            <a:ext cx="2194560" cy="4572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3474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A29BFE"/>
                </a:solidFill>
                <a:latin typeface="Calibri"/>
              </a:rPr>
              <a:t>Triton
Model Repo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977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File I/O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config.pbtxt,
model.onnx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21945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→ HTTP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21945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→ gRPC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21945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→ File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3931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→ HTTP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3931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→ 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3931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→ File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ML Pipeline — Component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280160"/>
            <a:ext cx="15087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280160"/>
            <a:ext cx="15087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71600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373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airbkk_client.py
airflow_db.py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28600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Fetch hourly
from AirBKK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11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20" y="1280160"/>
            <a:ext cx="15087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74520" y="1280160"/>
            <a:ext cx="1508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1371600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7373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preprocessing.py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28600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ffill, clip
[0, 500]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011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1280160"/>
            <a:ext cx="15087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1280160"/>
            <a:ext cx="1508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1371600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17373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feature_eng.py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28600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19 features
shift(1)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011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1280160"/>
            <a:ext cx="15087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57800" y="1280160"/>
            <a:ext cx="15087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1371600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F4444"/>
                </a:solidFill>
                <a:latin typeface="Calibri"/>
              </a:rP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17373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train.py
lstm_model.py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28600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5 models
GridSearchCV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011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1280160"/>
            <a:ext cx="15087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1280160"/>
            <a:ext cx="1508760" cy="4572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1371600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A29BFE"/>
                </a:solidFill>
                <a:latin typeface="Calibri"/>
              </a:rP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17373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evaluate.py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28600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MAE, RMSE, R²
vs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011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1280160"/>
            <a:ext cx="15087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41080" y="1280160"/>
            <a:ext cx="15087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1371600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17373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export_onnx.py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28600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→ ONNX format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4120" y="20116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332720" y="1280160"/>
            <a:ext cx="150876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332720" y="1280160"/>
            <a:ext cx="1508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78440" y="1371600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Publish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1737360"/>
            <a:ext cx="1417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triton_utils.py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2286000"/>
            <a:ext cx="1417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→ Triton repo
auto-reload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3931920"/>
            <a:ext cx="5760720" cy="14630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0" y="402336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Calibri"/>
              </a:rPr>
              <a:t>🔄  Drift Monitor (monitor.py + airflow_monitor.py)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Daily check: rolling 14-day RMSE + PSI (10 bins)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If RMSE &gt; 13.0 OR PSI &gt; 0.2 → trigger retrain pipeline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New model deployed only if MAE improves over production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206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Calibri"/>
              </a:rPr>
              <a:t>↻ Retrain trigger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MLOps &amp;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Calibri"/>
              </a:rPr>
              <a:t>⚡  Triton Inference Server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NVIDIA Triton 24.08 with ONNX Runtime backend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5-10ms inference latency per request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Dynamic batching (max_batch_size=32)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Auto-reload: polls model repo every 30 seconds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Zero-downtime deploy: publish ONNX → auto-picked up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Fallback: FastAPI uses onnxruntime directly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1206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120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🔄  CI/CD Pipeline (GitHub Actions)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CI — Test &amp; Lint: pytest + ruff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Triggers: push main/develop, PRs to main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CD — Deploy to EC2: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SSH to EC2 → git pull → docker compose up --build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Auto-deploy on push to main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Calibri"/>
              </a:rPr>
              <a:t>Airflow DAGs — 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389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89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1069848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Calibri"/>
              </a:rPr>
              <a:t>pm25_hourly_ingest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548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Every hour (0 * * * *)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7548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Fetch from AirBKK, validate,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66360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pm25_24h_training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16636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Manual trigger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51663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Train 5 models, deploy best per station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pm25_24h_pipeline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5778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Daily 01:00 UTC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55778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Monitor drift → trigger retrain if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A29BFE"/>
                </a:solidFill>
                <a:latin typeface="Calibri"/>
              </a:rPr>
              <a:t>pm25_api_prediction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98932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Manual/Scheduled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9893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Predict via API for date range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Monitoring &amp; Drift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alibri"/>
              </a:rPr>
              <a:t>📊  Model Performance Monitoring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RMSE — rolling 14-day window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Threshold: &gt; 13.0 µg/m³ → trigger retrain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PSI — Population Stability Index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Measures distribution shift (predicted vs actual)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10 percentile-based bins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&lt; 0.1 = Stable  |  0.1–0.2 = Monitor  |  &gt; 0.2 = Retrain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12064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120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alibri"/>
              </a:rPr>
              <a:t>⚠  Data Quality Monitoring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Runs after every hourly ingestion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Null rate check — alert if &gt; 50%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Outlier rate check — alert if &gt; 10%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Extreme values — alert if mean &gt; 400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Sensor drift — compare 1h vs 7-day baseline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&gt; 25% drift = MODERATE, &gt; 50% = SEVERE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Calibri"/>
              </a:rPr>
              <a:t>Auto-Retrain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663440"/>
            <a:ext cx="14630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70916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Calibri"/>
              </a:rPr>
              <a:t>Daily Check
01:00 UTC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937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4663440"/>
            <a:ext cx="14630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470916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Query 14-day
predictions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937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663440"/>
            <a:ext cx="14630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470916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Compute
RMSE + PSI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937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4663440"/>
            <a:ext cx="14630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470916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  <a:latin typeface="Calibri"/>
              </a:rPr>
              <a:t>Threshold
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937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4663440"/>
            <a:ext cx="14630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470916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  <a:latin typeface="Calibri"/>
              </a:rPr>
              <a:t>Train 5
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937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4663440"/>
            <a:ext cx="14630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470916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  <a:latin typeface="Calibri"/>
              </a:rPr>
              <a:t>Compare vs
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493776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0" y="4663440"/>
            <a:ext cx="146304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470916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Calibri"/>
              </a:rPr>
              <a:t>Deploy new
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Testing, Maintainability &amp; Responsible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Calibri"/>
              </a:rPr>
              <a:t>🧪  Testing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Unit tests (pytest)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test_handle_missing_ffill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test_handle_missing_interpolate</a:t>
            </a:r>
          </a:p>
          <a:p>
            <a:pPr lvl="1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test_remove_outliers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Linting: ruff check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CI: GitHub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🔍  Debugging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Airflow UI — task logs, XCom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MLflow UI — experiment comparison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CSV logs — predictions, actuals, monitoring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Docker logs — per service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Health endpoints — /health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3383280" cy="54864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29BFE"/>
                </a:solidFill>
                <a:latin typeface="Calibri"/>
              </a:rPr>
              <a:t>⚖  Responsible ML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No personal data collected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Per-station models (reduce geographic bias)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Feature importance for explainability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API key authentication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1F2937"/>
                </a:solidFill>
                <a:latin typeface="Calibri"/>
              </a:rPr>
              <a:t>Clear system limitations documented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Calibri"/>
              </a:rPr>
              <a:t>Technical Debt &amp; Improvements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Improvement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937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Calibri"/>
              </a:rPr>
              <a:t>Preprocessing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937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Add feature eng, API, model eval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Data Versioning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303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Calibri"/>
              </a:rPr>
              <a:t>No DVC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303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Add DVC for training data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Model Registry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669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Calibri"/>
              </a:rPr>
              <a:t>File-based (active_model.json)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669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Migrate to MLflow Model Registry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0350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Scaling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035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EF4444"/>
                </a:solidFill>
                <a:latin typeface="Calibri"/>
              </a:rPr>
              <a:t>Docker Compose (single node)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Kubernetes for horizontal scaling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6126480"/>
            <a:ext cx="10698480" cy="4572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Limitations: Single data source (AirBKK) • 5 stations only • 24h horizon • Weak on extreme events (&gt;200 µg/m³)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  <a:latin typeface="Calibri"/>
              </a:rPr>
              <a:t>Design Decisions &amp;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1887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Benefit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18872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Trade-off ⚠️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ONNX-only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4592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Framework-agnostic, fast, portable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Must export each model type differently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94560"/>
            <a:ext cx="10698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Triton Inference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24028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Low latency (5-10ms), auto-batching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24028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Adds operational complexity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88920"/>
            <a:ext cx="106984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3464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5 competing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83464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Adaptive — picks best for current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83464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Training takes 15-20h per 5 stations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10698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Shared 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42900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Reduces ops overhead, single backup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42900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Single point of failure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77640"/>
            <a:ext cx="106984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2336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shift(1) on all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02336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100% leakage prevention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02336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Loses 1 row per feature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572000"/>
            <a:ext cx="10698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1772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PSI + RMSE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61772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Catches both drift and accuracy drop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617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Needs matched actual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166360"/>
            <a:ext cx="1069848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21208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Docker Compose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21208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Simple, reproducible, one command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21208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No horizontal scaling (vs K8s)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760720"/>
            <a:ext cx="10698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0644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File-based model versioning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5806440"/>
            <a:ext cx="4114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  <a:latin typeface="Calibri"/>
              </a:rPr>
              <a:t>Simple, Triton polls directly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80644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Calibri"/>
              </a:rPr>
              <a:t>No registry UI, manual rollback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BBBBCC"/>
                </a:solidFill>
                <a:latin typeface="Calibri"/>
              </a:rPr>
              <a:t>End-to-end demonstration of the PM2.5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74903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BBBBCC"/>
                </a:solidFill>
                <a:latin typeface="Calibri"/>
              </a:rPr>
              <a:t>🖥  Streamlit — Login → Predict → Results →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25195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BBBBCC"/>
                </a:solidFill>
                <a:latin typeface="Calibri"/>
              </a:rPr>
              <a:t>🔄  Airflow — Ingest DAG running, trigger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75487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BBBBCC"/>
                </a:solidFill>
                <a:latin typeface="Calibri"/>
              </a:rPr>
              <a:t>📊  MLflow — Experiment tracking, model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257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BBBBCC"/>
                </a:solidFill>
                <a:latin typeface="Calibri"/>
              </a:rPr>
              <a:t>⚡  API — curl /predict with API key →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7607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BBBBCC"/>
                </a:solidFill>
                <a:latin typeface="Calibri"/>
              </a:rPr>
              <a:t>🔧  CI/CD — GitHub Actions deploy flow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00D2FF"/>
                </a:solidFill>
                <a:latin typeface="Calibri"/>
              </a:rPr>
              <a:t>FoonAlert — PM2.5 Prediction ML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BBBBCC"/>
                </a:solidFill>
                <a:latin typeface="Calibri"/>
              </a:rPr>
              <a:t>Questions?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846320"/>
            <a:ext cx="2286000" cy="914400"/>
          </a:xfrm>
          <a:prstGeom prst="roundRect">
            <a:avLst/>
          </a:prstGeom>
          <a:solidFill>
            <a:srgbClr val="24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D2FF"/>
                </a:solidFill>
                <a:latin typeface="Calibri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212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BBBCC"/>
                </a:solidFill>
                <a:latin typeface="Calibri"/>
              </a:rPr>
              <a:t>http://43.209.207.187:8501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4846320"/>
            <a:ext cx="2286000" cy="914400"/>
          </a:xfrm>
          <a:prstGeom prst="roundRect">
            <a:avLst/>
          </a:prstGeom>
          <a:solidFill>
            <a:srgbClr val="24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48920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D2FF"/>
                </a:solidFill>
                <a:latin typeface="Calibri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5212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BBBCC"/>
                </a:solidFill>
                <a:latin typeface="Calibri"/>
              </a:rPr>
              <a:t>http://43.209.207.187:8001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846320"/>
            <a:ext cx="2286000" cy="914400"/>
          </a:xfrm>
          <a:prstGeom prst="roundRect">
            <a:avLst/>
          </a:prstGeom>
          <a:solidFill>
            <a:srgbClr val="24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8920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D2FF"/>
                </a:solidFill>
                <a:latin typeface="Calibri"/>
              </a:rPr>
              <a:t>MLflow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212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BBBCC"/>
                </a:solidFill>
                <a:latin typeface="Calibri"/>
              </a:rPr>
              <a:t>http://43.209.207.187:5001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4846320"/>
            <a:ext cx="2286000" cy="914400"/>
          </a:xfrm>
          <a:prstGeom prst="roundRect">
            <a:avLst/>
          </a:prstGeom>
          <a:solidFill>
            <a:srgbClr val="24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9" y="48920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D2FF"/>
                </a:solidFill>
                <a:latin typeface="Calibri"/>
              </a:rPr>
              <a:t>Airflow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9" y="52120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BBBCC"/>
                </a:solidFill>
                <a:latin typeface="Calibri"/>
              </a:rPr>
              <a:t>http://43.209.207.187:8080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