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FoonAlert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DC3C7"/>
                </a:solidFill>
                <a:latin typeface="Calibri"/>
              </a:rPr>
              <a:t>Real-Time PM2.5 Spike Forecasting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74C3C"/>
                </a:solidFill>
                <a:latin typeface="Calibri"/>
              </a:rPr>
              <a:t>7 Models | Hourly Predictions | Auto-Retrain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  <a:latin typeface="Calibri"/>
              </a:rPr>
              <a:t>Team: YG  |  Music  |  Sunta  |  Olf  |  Perm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39C12"/>
                </a:solidFill>
                <a:latin typeface="Calibri"/>
              </a:rPr>
              <a:t>"Don't just see what happened — know what's about to happen."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5A5A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74C3C"/>
                </a:solidFill>
                <a:latin typeface="Calibri"/>
              </a:rPr>
              <a:t>PM2.5 spike 18 → 108 µg/m³ in 8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Calibri"/>
              </a:rPr>
              <a:t>No one warned 11 million people in Bangkok.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C3E50"/>
                </a:solidFill>
                <a:latin typeface="Calibri"/>
              </a:rPr>
              <a:t>Current apps: show NOW only | No prediction | No early warning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846320"/>
            <a:ext cx="86868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FoonAlert: Predict +1h, +6h, +24h ahead | 7 models competing | Auto-retrain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[ YG: 0:00-1:00 ]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5A5A6"/>
                </a:solidFill>
                <a:latin typeface="Calibri"/>
              </a:rPr>
              <a:t>Research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Calibri"/>
              </a:rPr>
              <a:t>3 Papers That Shaped Our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10972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98DB"/>
                </a:solidFill>
                <a:latin typeface="Calibri"/>
              </a:rPr>
              <a:t>[1] Malakouti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From accurate to actionable: PM2.5 forecasting with feature engineering &amp; SHAP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5A5A6"/>
                </a:solidFill>
                <a:latin typeface="Calibri"/>
              </a:rPr>
              <a:t>Environmental Challenges 21, 101290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920240"/>
            <a:ext cx="3474720" cy="91440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20574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 used: Lag/rolling/diff features + SHAP interpretation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39"/>
            <a:ext cx="10972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8327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  <a:latin typeface="Calibri"/>
              </a:rPr>
              <a:t>[2] Buya et al.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Estimating Ground-level Hourly PM2.5 in Thailand (IEEE JSTARS)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5A5A6"/>
                </a:solidFill>
                <a:latin typeface="Calibri"/>
              </a:rPr>
              <a:t>DOI: 10.1109/JSTARS.2024.3384964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474720"/>
            <a:ext cx="3474720" cy="91440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1187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 used: Hourly granularity + rush-hour time features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846320"/>
            <a:ext cx="10972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3775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Calibri"/>
              </a:rPr>
              <a:t>[3] Jankondee et al. (2024)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PM2.5 modeling based on CALIPSO in Bangkok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5A5A6"/>
                </a:solidFill>
                <a:latin typeface="Calibri"/>
              </a:rPr>
              <a:t>Creative Science 16(3), DOI: 10.55674/cs.v16i3.257117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029200"/>
            <a:ext cx="3474720" cy="9144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516635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We used: Linear models as strong baseline for Bangkok PM2.5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[ Music: 1:00-3:00 ]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5A5A6"/>
                </a:solidFill>
                <a:latin typeface="Calibri"/>
              </a:rP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C3E50"/>
                </a:solidFill>
                <a:latin typeface="Calibri"/>
              </a:rPr>
              <a:t>AirBKK API → Airflow → PostgreSQL → Triton →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2103120" cy="1463040"/>
          </a:xfrm>
          <a:prstGeom prst="roundRect">
            <a:avLst/>
          </a:prstGeom>
          <a:solidFill>
            <a:srgbClr val="34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AirBKK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DDFF"/>
                </a:solidFill>
                <a:latin typeface="Calibri"/>
              </a:rPr>
              <a:t>Hourly
Thai Gov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011680"/>
            <a:ext cx="2103120" cy="146304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Airflow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DDFF"/>
                </a:solidFill>
                <a:latin typeface="Calibri"/>
              </a:rPr>
              <a:t>Ingest DAG
Hourly cron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011680"/>
            <a:ext cx="2103120" cy="146304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DDFF"/>
                </a:solidFill>
                <a:latin typeface="Calibri"/>
              </a:rPr>
              <a:t>5 stations
96k+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011680"/>
            <a:ext cx="2103120" cy="146304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DDFF"/>
                </a:solidFill>
                <a:latin typeface="Calibri"/>
              </a:rPr>
              <a:t>7 models
Auto-retrain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011680"/>
            <a:ext cx="2103120" cy="1463040"/>
          </a:xfrm>
          <a:prstGeom prst="roundRect">
            <a:avLst/>
          </a:prstGeom>
          <a:solidFill>
            <a:srgbClr val="9B59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103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Triton+API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5603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DDDFF"/>
                </a:solidFill>
                <a:latin typeface="Calibri"/>
              </a:rPr>
              <a:t>ONNX serve
&lt;10ms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40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Stations: 56, 57, 58, 59, 61  |  Jan 2023 → May 2026  |  Hourly  |  96,000+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10972800" cy="1554480"/>
          </a:xfrm>
          <a:prstGeom prst="roundRect">
            <a:avLst/>
          </a:prstGeom>
          <a:solidFill>
            <a:srgbClr val="FF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  <a:latin typeface="Calibri"/>
              </a:rPr>
              <a:t>Design Decisions (from papers)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Hourly (not daily): PM2.5 spike occurs in 2-4h [Buya 2024]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Feature eng: lag 1-24h + rolling mean/std + time [Malakouti 2025]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Linear baseline strong in Bangkok: R²=0.99 [Jankondee 2024]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[ Music: 1:00-3:00 ]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Calibri"/>
              </a:rPr>
              <a:t>7 Models — The Battle Lineup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95A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95A5A6"/>
                </a:solidFill>
                <a:latin typeface="Calibri"/>
              </a:rPr>
              <a:t>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Baseline
RMSE 8.51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5A5A6"/>
                </a:solidFill>
                <a:latin typeface="Calibri"/>
              </a:rPr>
              <a:t>Sunta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28016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7AE60"/>
                </a:solidFill>
                <a:latin typeface="Calibri"/>
              </a:rPr>
              <a:t>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BEST
RMSE 8.50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5A5A6"/>
                </a:solidFill>
                <a:latin typeface="Calibri"/>
              </a:rPr>
              <a:t>Sunta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3498DB"/>
                </a:solidFill>
                <a:latin typeface="Calibri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Ensemble
RMSE 8.81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5A5A6"/>
                </a:solidFill>
                <a:latin typeface="Calibri"/>
              </a:rPr>
              <a:t>Sunta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280160"/>
            <a:ext cx="2743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39C12"/>
                </a:solidFill>
                <a:latin typeface="Calibri"/>
              </a:rP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Boosting
RMSE 8.64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5A5A6"/>
                </a:solidFill>
                <a:latin typeface="Calibri"/>
              </a:rPr>
              <a:t>Sunta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383280"/>
            <a:ext cx="3200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74C3C"/>
                </a:solidFill>
                <a:latin typeface="Calibri"/>
              </a:rPr>
              <a:t>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319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Deep Learning
RMSE 10.53
(needs more data)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Sunta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383280"/>
            <a:ext cx="3200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498DB"/>
                </a:solidFill>
                <a:latin typeface="Calibri"/>
              </a:rPr>
              <a:t>SARIMA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9319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Statistical
RMSE 8.90
(spike timing)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Olf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3383280"/>
            <a:ext cx="32004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9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9B59B6"/>
                </a:solidFill>
                <a:latin typeface="Calibri"/>
              </a:rPr>
              <a:t>Transformer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39319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Calibri"/>
              </a:rPr>
              <a:t>Self-Attention
RMSE 8.82
(early detection)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5303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Perm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[ Sunta: 3:00-4:30 | Olf: 4:30-5:30 | Perm: 5:30-6:00 ]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Calibri"/>
              </a:rPr>
              <a:t>Feature Engineering — 19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Lag Features (6)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pm25_lag_1h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pm25_lag_2h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pm25_lag_3h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pm25_lag_6h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pm25_lag_12h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pm25_lag_24h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Rolling Stats (6)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rolling_mean_6h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rolling_mean_12h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rolling_mean_24h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rolling_std_6h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rolling_std_12h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rolling_std_24h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657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1A2E"/>
                </a:solidFill>
                <a:latin typeface="Calibri"/>
              </a:rPr>
              <a:t>Time + Diff (7)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hour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day_of_week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month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day_of_year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is_weekend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pm25_diff_1h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2C3E50"/>
                </a:solidFill>
                <a:latin typeface="Consolas"/>
              </a:rPr>
              <a:t>•  pm25_diff_24h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B59B6"/>
                </a:solidFill>
                <a:latin typeface="Calibri"/>
              </a:rPr>
              <a:t>Target: PM2.5 at T+24h  |  All features shifted to prevent leakage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Demo: 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E0E0"/>
                </a:solidFill>
                <a:latin typeface="Calibri"/>
              </a:rPr>
              <a:t>PM2.5 now + multi-model predictions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97680"/>
            <a:ext cx="77724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http://54.252.197.62:8502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029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C3C7"/>
                </a:solidFill>
                <a:latin typeface="Calibri"/>
              </a:rPr>
              <a:t>Station 56 | Metric cards |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Demo: Spike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E0E0"/>
                </a:solidFill>
                <a:latin typeface="Calibri"/>
              </a:rPr>
              <a:t>Watch models predict a real spike hour-by-hour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4297680"/>
            <a:ext cx="7772400" cy="13716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http://54.252.197.62:8502 -&gt; Spike Replay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029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C3C7"/>
                </a:solidFill>
                <a:latin typeface="Calibri"/>
              </a:rPr>
              <a:t>Station 59 / 2025-01-24 | Auto-play | Scoreboard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Calibri"/>
              </a:rPr>
              <a:t>Results — Real Training (Airflow, Station 56)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T+24h forecast | Test: 3 months | Trained 2026-05-07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94183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19" y="14447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RMSE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447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444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74519"/>
            <a:ext cx="9418320" cy="457200"/>
          </a:xfrm>
          <a:prstGeom prst="roundRect">
            <a:avLst/>
          </a:prstGeom>
          <a:solidFill>
            <a:srgbClr val="E8F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476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9476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Ridge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947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8.50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947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6.39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947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0.22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947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Sunta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331720"/>
            <a:ext cx="9418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048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2404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Linear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404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8.51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404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6.39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404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0.22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404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Sunta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788920"/>
            <a:ext cx="9418320" cy="457200"/>
          </a:xfrm>
          <a:prstGeom prst="round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862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19" y="2862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XGBoost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862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8.64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862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6.42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8620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0.20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Sunta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246120"/>
            <a:ext cx="9418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3192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33192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Random Forest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319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8.81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319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6.61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3192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0.17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319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Sunta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703320"/>
            <a:ext cx="9418320" cy="457200"/>
          </a:xfrm>
          <a:prstGeom prst="round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7764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19" y="3776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Transformer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3776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8.82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3776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6.59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7764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0.16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7764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Perm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160520"/>
            <a:ext cx="94183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2336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19" y="42336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SARIMA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4233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8.90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4233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6.52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233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0.15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233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Olf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4617720"/>
            <a:ext cx="9418320" cy="457200"/>
          </a:xfrm>
          <a:prstGeom prst="round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46908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88719" y="4690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LSTM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690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10.53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0" y="4690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7.55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690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-0.19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4690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Sunta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4846320"/>
            <a:ext cx="10515600" cy="11887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Key Findings: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Ridge wins overall (simple + good features = best accuracy)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Transformer best for spike early detection (attention mechanism)</a:t>
            </a:r>
          </a:p>
          <a:p>
            <a:pPr algn="l">
              <a:spcAft>
                <a:spcPts val="8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LSTM needs more data; simple models beat it here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[ YG: 6:30-8:30 ]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Calibri"/>
              </a:rPr>
              <a:t>When to Use Which Model?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0972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Routine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63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7AE60"/>
                </a:solidFill>
                <a:latin typeface="Calibri"/>
              </a:rPr>
              <a:t>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463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Best accuracy, fast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10972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Spike early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B59B6"/>
                </a:solidFill>
                <a:latin typeface="Calibri"/>
              </a:rPr>
              <a:t>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Attention captures onset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0972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Seasonal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498DB"/>
                </a:solidFill>
                <a:latin typeface="Calibri"/>
              </a:rPr>
              <a:t>SARIMA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Interpretable seasonal decomposition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0520"/>
            <a:ext cx="10972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95A5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Resource-limited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5A5A6"/>
                </a:solidFill>
                <a:latin typeface="Calibri"/>
              </a:rPr>
              <a:t>Ridge / Linear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343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Minimal compute, ONNX &lt;2ms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0972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Critical alert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  <a:latin typeface="Calibri"/>
              </a:rPr>
              <a:t>Ensemble (all)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5A5A6"/>
                </a:solidFill>
                <a:latin typeface="Calibri"/>
              </a:rPr>
              <a:t>Consensus vote = high confidence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Calibri"/>
              </a:rPr>
              <a:t>Production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98DB"/>
                </a:solidFill>
                <a:latin typeface="Calibri"/>
              </a:rPr>
              <a:t>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554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AirBKK API → Airflow Hourly Ingest → PostgreSQL (pm25_raw_hourly)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2316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Calibri"/>
              </a:rPr>
              <a:t>ML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69747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Airflow Training DAG → 7 Models → MLflow tracking → ONNX export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9B59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9B6"/>
                </a:solidFill>
                <a:latin typeface="Calibri"/>
              </a:rPr>
              <a:t>Serving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840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Triton Inference Server → FastAPI → Streamlit FoonAlert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0916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  <a:latin typeface="Calibri"/>
              </a:rPr>
              <a:t>Monitoring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983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PSI drift detection → Auto-retrain trigger → Hot-swap via Triton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486400"/>
            <a:ext cx="9144000" cy="6400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Deploy: docker compose up | Zero downtime | Self-healing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[ Music: 8:30-9:30 ]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5A5A6"/>
                </a:solidFill>
                <a:latin typeface="Calibr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Bangkok needs early warning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697480" cy="2286000"/>
          </a:xfrm>
          <a:prstGeom prst="roundRect">
            <a:avLst/>
          </a:prstGeom>
          <a:solidFill>
            <a:srgbClr val="24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74C3C"/>
                </a:solidFill>
                <a:latin typeface="Calibri"/>
              </a:rPr>
              <a:t>11M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people at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743200"/>
            <a:ext cx="2697480" cy="2286000"/>
          </a:xfrm>
          <a:prstGeom prst="roundRect">
            <a:avLst/>
          </a:prstGeom>
          <a:solidFill>
            <a:srgbClr val="24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29260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39C12"/>
                </a:solidFill>
                <a:latin typeface="Calibri"/>
              </a:rPr>
              <a:t>100+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40233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unhealthy days/yr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2697480" cy="2286000"/>
          </a:xfrm>
          <a:prstGeom prst="roundRect">
            <a:avLst/>
          </a:prstGeom>
          <a:solidFill>
            <a:srgbClr val="24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9260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27AE60"/>
                </a:solidFill>
                <a:latin typeface="Calibri"/>
              </a:rPr>
              <a:t>24h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0233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advance 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743200"/>
            <a:ext cx="2697480" cy="2286000"/>
          </a:xfrm>
          <a:prstGeom prst="roundRect">
            <a:avLst/>
          </a:prstGeom>
          <a:solidFill>
            <a:srgbClr val="242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9260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9B59B6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40233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competing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C3C7"/>
                </a:solidFill>
                <a:latin typeface="Calibri"/>
              </a:rPr>
              <a:t>Early warning → behavior change → reduced exposure → lower health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5A5A6"/>
                </a:solidFill>
                <a:latin typeface="Calibri"/>
              </a:rPr>
              <a:t>Most apps tell you: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"How bad is the air NOW?"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5A5A6"/>
                </a:solidFill>
                <a:latin typeface="Calibri"/>
              </a:rPr>
              <a:t>FoonAlert asks: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74C3C"/>
                </a:solidFill>
                <a:latin typeface="Calibri"/>
              </a:rPr>
              <a:t>"How bad WILL it become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74C3C"/>
                </a:solidFill>
                <a:latin typeface="Calibri"/>
              </a:rPr>
              <a:t>and can we warn people in time?"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Thank you!  | 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5A5A6"/>
                </a:solidFill>
                <a:latin typeface="Calibri"/>
              </a:rPr>
              <a:t>[ YG: 9:30-10:00 ]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onsolas"/>
              </a:rPr>
              <a:t>[1] Malakouti, S.M. (2025). From accurate to actionable: Interpretable PM2.5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1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onsolas"/>
              </a:rPr>
              <a:t>    forecasting with feature engineering and SHAP. Env. Challenges, 21, 101290.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onsolas"/>
              </a:rPr>
              <a:t>[2] Buya, S., Gokon, H., Dam, H.C., Usanavasin, S., Karnjana, J. (2024).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onsolas"/>
              </a:rPr>
              <a:t>    Estimating Ground-level Hourly PM2.5 in Thailand using Satellite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onsolas"/>
              </a:rPr>
              <a:t>    IEEE J. Sel. Top. Appl. Earth Obs. Remote Sens. DOI:10.1109/JSTARS.2024.3384964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onsolas"/>
              </a:rPr>
              <a:t>[3] Jankondee, Y., Kumharn, W., et al. (2024). PM2.5 modeling based on CALIPSO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onsolas"/>
              </a:rPr>
              <a:t>    in Bangkok. Creative Science, 16(3). DOI:10.55674/cs.v16i3.257117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Calibri"/>
              </a:rP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Apache Airflow | Triton Inference Server | ONNX Runtime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PostgreSQL | FastAPI | Streamlit | MLflow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C3E50"/>
                </a:solidFill>
                <a:latin typeface="Calibri"/>
              </a:rPr>
              <a:t>•  Docker Compose | AirBKK API (Thai air quality)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Calibri"/>
              </a:rPr>
              <a:t>Q&amp;A — Prepared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Q: Why does Ridge beat Deep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1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Good features + simple model &gt; complex model. [Malakouti 2025] shows SHAP lag-1 dominates.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Q: Which model for production?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Ridge (best accuracy). Triton can hot-swap if Transformer/SARIMA improve with more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Q: How often does it retrain?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7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Daily check. If PSI &gt; 0.2 or MAE &gt; threshold -&gt; auto-trigger training DAG.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Q: Why LSTM performs poorly?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5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Needs more data + longer sequences. With 5+ years data, it should improve significantly.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Calibri"/>
              </a:rPr>
              <a:t>Q: What's novel here?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7 models competing on same pipeline + auto-monitoring + production deployment (not just research).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