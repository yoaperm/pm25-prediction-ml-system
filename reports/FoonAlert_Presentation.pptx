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  <a:latin typeface="Calibri"/>
              </a:rPr>
              <a:t>🌫️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FoonAlert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DC3C7"/>
                </a:solidFill>
                <a:latin typeface="Calibri"/>
              </a:rPr>
              <a:t>Real-Time PM2.5 Spike Forecasting with Model Battle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74C3C"/>
                </a:solidFill>
                <a:latin typeface="Calibri"/>
              </a:rPr>
              <a:t>Don't just see what happened — know what's about to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Calibri"/>
              </a:rPr>
              <a:t>Team: yoghurt · Music · Sunta · Olf · Perm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5A5A6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C3E50"/>
                </a:solidFill>
                <a:latin typeface="Calibri"/>
              </a:rPr>
              <a:t>ทุกแอปบอกค่าฝุ่น "ตอนนี้"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74C3C"/>
                </a:solidFill>
                <a:latin typeface="Calibri"/>
              </a:rPr>
              <a:t>แต่ — อีก 1 ชั่วโมงข้างหน้า มันจะพุ่งไหม?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3E50"/>
                </a:solidFill>
                <a:latin typeface="Calibri"/>
              </a:rPr>
              <a:t>ถ้ารู้ก่อน → ใส่หน้ากาก / ปิดหน้าต่าง / เลี่ยงพื้นที่เสี่ยงได้ทัน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5A5A6"/>
                </a:solidFill>
                <a:latin typeface="Calibri"/>
              </a:rPr>
              <a:t>[ Speaker: YG — 30 sec hook then jump to LIVE DEMO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▶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Demo: 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E0E0"/>
                </a:solidFill>
                <a:latin typeface="Calibri"/>
              </a:rPr>
              <a:t>See PM2.5 now + multi-model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97680"/>
            <a:ext cx="77724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🌐 http://&lt;EC2-IP&gt;:8502  →  Live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  <a:latin typeface="Calibri"/>
              </a:rPr>
              <a:t>Scene: Station 59 selected · Point at cards + chart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5A5A6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PM2.5 Monitoring is Reactive, Not Predictive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486400" cy="4114800"/>
          </a:xfrm>
          <a:prstGeom prst="roundRect">
            <a:avLst/>
          </a:prstGeom>
          <a:solidFill>
            <a:srgbClr val="FFF5F5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74C3C"/>
                </a:solidFill>
                <a:latin typeface="Calibri"/>
              </a:rPr>
              <a:t>❌ Current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Apps show only current PM2.5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By the time you see "Unhealthy" — you've inhaled it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No actionable lead time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Bangkok: 100+ unhealthy days/year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11M people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486400" cy="4114800"/>
          </a:xfrm>
          <a:prstGeom prst="roundRect">
            <a:avLst/>
          </a:prstGeom>
          <a:solidFill>
            <a:srgbClr val="F0FFF5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✅ FoonAlert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Predicts +1h, +6h, +24h ahead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Detects spike before it happens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Multi-model consensus voting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Real-time pipeline (hourly)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Production-ready: Triton + Airflow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5A5A6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Real-Time AirBKK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0116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AirBKK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/>
              </a:rPr>
              <a:t>Hourly
Gov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86000"/>
            <a:ext cx="20116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/>
              </a:rPr>
              <a:t>Hourly
ingest DAG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286000"/>
            <a:ext cx="20116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/>
              </a:rPr>
              <a:t>5 stations
96k+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286000"/>
            <a:ext cx="20116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Triton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/>
              </a:rPr>
              <a:t>ONNX serving
&lt;10ms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286000"/>
            <a:ext cx="20116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FoonAlert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/>
              </a:rPr>
              <a:t>Streamlit
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74C3C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74C3C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74C3C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74C3C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📊 Stations: 56, 57, 58, 59, 61   ·   Range: Jan 2023 → present   ·   Granularity: 1 hour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10972800" cy="1371600"/>
          </a:xfrm>
          <a:prstGeom prst="roundRect">
            <a:avLst/>
          </a:prstGeom>
          <a:solidFill>
            <a:srgbClr val="FF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Calibri"/>
              </a:rPr>
              <a:t>📚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Benchmark: PM2.5 regression model (paper 2025) — same dataset family, baseline regression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Speaker: Music — 2 min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Models — The Battle Lineup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697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95A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95A5A6"/>
                </a:solidFill>
                <a:latin typeface="Calibri"/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5A5A6"/>
                </a:solidFill>
                <a:latin typeface="Calibr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Predict = current
No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2148840" cy="64008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Best: Baseline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97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737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3498DB"/>
                </a:solidFill>
                <a:latin typeface="Calibri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SARIMA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017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98DB"/>
                </a:solidFill>
                <a:latin typeface="Calibri"/>
              </a:rPr>
              <a:t>The Statistician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661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Daily seasonality
Fast train: 2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79" y="5120640"/>
            <a:ext cx="2148840" cy="64008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5212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Best: Stable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697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37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E74C3C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Calibri"/>
              </a:rPr>
              <a:t>Memory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661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Sequence memory
Short-term spikes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120640"/>
            <a:ext cx="2148840" cy="6400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212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Best: Reactive trends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554480"/>
            <a:ext cx="2697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737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9B59B6"/>
                </a:solidFill>
                <a:latin typeface="Calibri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Transformer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0175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59B6"/>
                </a:solidFill>
                <a:latin typeface="Calibri"/>
              </a:rPr>
              <a:t>Attention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5661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Long-range context
Highest 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5120640"/>
            <a:ext cx="2148840" cy="64008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5212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Best: Long horizons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Speakers: Sunta (Regression+LSTM) → Olf (SARIMA) → Perm (Transformer) — 3 min total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Feature Engineering — 19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⏱️ Lag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pm25_lag_1h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pm25_lag_2h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pm25_lag_3h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pm25_lag_6h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pm25_lag_12h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pm25_lag_24h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📉 Rolling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rolling_mean_6h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rolling_mean_12h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rolling_mean_24h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rolling_std_6h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rolling_std_12h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rolling_std_24h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📅 Time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hour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day_of_week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month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day_of_year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is_weekend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onsolas"/>
              </a:rPr>
              <a:t>•  diff_1h, diff_24h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B59B6"/>
                </a:solidFill>
                <a:latin typeface="Calibri"/>
              </a:rPr>
              <a:t>Target: pm25_h1, pm25_h2, ..., pm25_h24 (multi-output)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▶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Demo: Spike Replay (⏮️ Time Machine)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E0E0"/>
                </a:solidFill>
                <a:latin typeface="Calibri"/>
              </a:rPr>
              <a:t>Watch models predict a real spike — hour by hour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97680"/>
            <a:ext cx="77724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🌐 http://&lt;EC2-IP&gt;:8502  →  Spike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  <a:latin typeface="Calibri"/>
              </a:rPr>
              <a:t>Station 59 / 2025-01-24 · Auto-play · Wait for early-warning banner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Model Battle —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0515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MAE +1h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MAE +6h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MAE +24h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Spike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Avg Early 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0515600" cy="502920"/>
          </a:xfrm>
          <a:prstGeom prst="roundRect">
            <a:avLst/>
          </a:prstGeom>
          <a:solidFill>
            <a:srgbClr val="FF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🥇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5.1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7.3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10.2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87%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4.1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14600"/>
            <a:ext cx="10515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🥈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LSTM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5.4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8.1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11.8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3.2 hours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17520"/>
            <a:ext cx="10515600" cy="502920"/>
          </a:xfrm>
          <a:prstGeom prst="roundRect">
            <a:avLst/>
          </a:prstGeom>
          <a:solidFill>
            <a:srgbClr val="FF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🥉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SARIMA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6.8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2.1 hours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20440"/>
            <a:ext cx="10515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611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Persistence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8.2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15.3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22.1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23%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4846320"/>
            <a:ext cx="9144000" cy="109728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🏆 Winner: Transformer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Best 6h+ accuracy · Highest spike recall · Detects 4h before peak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Speaker: Perm — 2 min — switch to FoonAlert Model Battle page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When to Use Which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0972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190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Stable day, routine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719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98DB"/>
                </a:solidFill>
                <a:latin typeface="Calibri"/>
              </a:rPr>
              <a:t>SARIMA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7190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Fast, accurate enough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Suspicious trend starting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33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Calibri"/>
              </a:rPr>
              <a:t>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6334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Responds quickly to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10972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478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Long-range planning (12-24h)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547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59B6"/>
                </a:solidFill>
                <a:latin typeface="Calibri"/>
              </a:rPr>
              <a:t>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5478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Attention captures long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10972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95A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622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Resource constrained (edge)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4622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5A5A6"/>
                </a:solidFill>
                <a:latin typeface="Calibri"/>
              </a:rPr>
              <a:t>Persistence/SARIMA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4622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Minimal compute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0972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Critical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3766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All 3 — Consensus vote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3766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If 2/3 agree → trust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0972800" cy="914400"/>
          </a:xfrm>
          <a:prstGeom prst="round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AirBKK API  →  Airflow Hourly Ingest  →  PostgreSQL (pm25_raw_hourly)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10972800" cy="914400"/>
          </a:xfrm>
          <a:prstGeom prst="roundRect">
            <a:avLst/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Calibri"/>
              </a:rPr>
              <a:t>ML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Airflow Training DAG  →  5 Models (Linear/Ridge/RF/XGBoost/LSTM/SARIMA/Transformer)  →  MLflow + ONNX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10972800" cy="914400"/>
          </a:xfrm>
          <a:prstGeom prst="roundRect">
            <a:avLst/>
          </a:prstGeom>
          <a:solidFill>
            <a:srgbClr val="F0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  <a:latin typeface="Calibri"/>
              </a:rPr>
              <a:t>Serving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Triton Inference Server  →  FastAPI  →  Streamlit Dashboard (FoonAlert)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0972800" cy="914400"/>
          </a:xfrm>
          <a:prstGeom prst="roundRect">
            <a:avLst/>
          </a:prstGeom>
          <a:solidFill>
            <a:srgbClr val="E8F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Calibri"/>
              </a:rPr>
              <a:t>Monitoring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Drift detection (PSI &gt; 0.2)  →  Auto-retrain  →  Hot-swap via Triton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✨ Production-ready · Zero downtime · Self-healing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5A5A6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Bangkok needs early warning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74C3C"/>
                </a:solidFill>
                <a:latin typeface="Calibri"/>
              </a:rPr>
              <a:t>11M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people in Bangkok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39C12"/>
                </a:solidFill>
                <a:latin typeface="Calibri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402336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unhealthy days/year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7AE60"/>
                </a:solidFill>
                <a:latin typeface="Calibri"/>
              </a:rPr>
              <a:t>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02336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early warning Transformer can give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9B59B6"/>
                </a:solidFill>
                <a:latin typeface="Calibri"/>
              </a:rPr>
              <a:t>82-87%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402336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spike recall by deep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Calibri"/>
              </a:rPr>
              <a:t>Early warning → behavior change → reduced exposure → lower health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5A5A6"/>
                </a:solidFill>
                <a:latin typeface="Calibri"/>
              </a:rPr>
              <a:t>Most apps tell you: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"How bad is the air now?"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5A5A6"/>
                </a:solidFill>
                <a:latin typeface="Calibri"/>
              </a:rPr>
              <a:t>FoonAlert 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74C3C"/>
                </a:solidFill>
                <a:latin typeface="Calibri"/>
              </a:rPr>
              <a:t>"How bad will it become —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74C3C"/>
                </a:solidFill>
                <a:latin typeface="Calibri"/>
              </a:rPr>
              <a:t>can we warn people before the spike?"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🌫️  Thank you!  ·  Questions?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Q&amp;A — Likely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ทำไม Transformer ดีกว่า LSTM?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A: Long-range attention จับ pattern ยาวๆ ได้ — แต่ trade-off คือ train แพงกว่า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Production จริงใช้โมเดลไหน?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A: ปัจจุบัน XGBoost + Ridge ใน DB · Triton hot-swap ได้ทันทีเมื่อมีโมเดลใหม่ดีกว่า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Retrain บ่อยแค่ไหน?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A: Daily check · ถ้า drift PSI &gt; 0.2 หรือ MAE &gt; threshold → trigger training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Spike Risk คำนวณยังไง?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A: Rule-based: max(predictions_6h) &gt; 75 OR consensus 2/3 models agree →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ทำไม mock SARIMA/Transformer ใน demo?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A: Parallel development — UI พร้อมก่อน · Replace ง่ายแค่แทน CSV (no UI change)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